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tacenter_microburst_cover_17918094159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0"/>
            <a:ext cx="688817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029200" y="0"/>
            <a:ext cx="109728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731520"/>
            <a:ext cx="3931920" cy="384048"/>
          </a:xfrm>
          <a:prstGeom prst="roundRect">
            <a:avLst/>
          </a:prstGeom>
          <a:solidFill>
            <a:srgbClr val="10203C"/>
          </a:solidFill>
          <a:ln w="1524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3891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Segoe UI"/>
              </a:defRPr>
            </a:pPr>
            <a:r>
              <a:t>MicroburstHunter</a:t>
            </a:r>
          </a:p>
          <a:p>
            <a:pPr>
              <a:spcAft>
                <a:spcPts val="1400"/>
              </a:spcAft>
              <a:defRPr sz="1400" b="1">
                <a:solidFill>
                  <a:srgbClr val="00E5FF"/>
                </a:solidFill>
                <a:latin typeface="Segoe UI"/>
              </a:defRPr>
            </a:pPr>
            <a:r>
              <a:t>Real-Time Detection and Adaptive Mitigation of Microbursts in Data Center Networks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Sub-RTT algorithmic telemetry, dynamic EWMA baseline thresholding, Linux HTB egress traffic control, and fail-closed safety orchestration.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4389120" cy="201168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 bIns="182880"/>
          <a:lstStyle/>
          <a:p>
            <a:pPr algn="ctr">
              <a:spcAft>
                <a:spcPts val="10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PROJECT TEAM (DEPARTMENT OF CSE)</a:t>
            </a:r>
          </a:p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K AKSHITH REDDY  |  1602-24-737-088</a:t>
            </a:r>
          </a:p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MD ARSALAANUDDIN  |  1602-24-737-087</a:t>
            </a:r>
          </a:p>
          <a:p>
            <a:pPr>
              <a:spcAft>
                <a:spcPts val="5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MD ARSHAD ALI  |  1602-24-737-088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Problem Statement &amp; Abstract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9050"/>
          </a:xfrm>
          <a:prstGeom prst="rect">
            <a:avLst/>
          </a:prstGeom>
          <a:solidFill>
            <a:srgbClr val="1C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120640" cy="48920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 bIns="274320"/>
          <a:lstStyle/>
          <a:p>
            <a:pPr algn="ctr">
              <a:spcAft>
                <a:spcPts val="8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Aft>
                <a:spcPts val="1600"/>
              </a:spcAft>
              <a:defRPr sz="1150">
                <a:solidFill>
                  <a:srgbClr val="CBD5E1"/>
                </a:solidFill>
                <a:latin typeface="Segoe UI"/>
              </a:defRPr>
            </a:pPr>
            <a:r>
              <a:t>Modern data-center networks experience sudden, short-duration traffic bursts (microbursts). These surges overwhelm switch memory buffers, drive queue buildup, elevate tail latency, and induce packet drops.</a:t>
            </a:r>
          </a:p>
          <a:p>
            <a:pPr>
              <a:spcAft>
                <a:spcPts val="200"/>
              </a:spcAft>
              <a:defRPr sz="1150" b="1">
                <a:solidFill>
                  <a:srgbClr val="00E5FF"/>
                </a:solidFill>
                <a:latin typeface="Segoe UI"/>
              </a:defRPr>
            </a:pPr>
            <a:r>
              <a:t>▶  Sudden Traffic Spikes &amp; Transient Congestion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 Incast events and synchronized tenant traffic overload shallow switch queues in milliseconds.</a:t>
            </a:r>
          </a:p>
          <a:p>
            <a:pPr>
              <a:spcAft>
                <a:spcPts val="200"/>
              </a:spcAft>
              <a:defRPr sz="1150" b="1">
                <a:solidFill>
                  <a:srgbClr val="00E5FF"/>
                </a:solidFill>
                <a:latin typeface="Segoe UI"/>
              </a:defRPr>
            </a:pPr>
            <a:r>
              <a:t>▶  Increased Latency &amp; Potential Packet Drops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 Queue exhaustion causes severe tail latency and catastrophic tail-drops before TCP reacts.</a:t>
            </a:r>
          </a:p>
          <a:p>
            <a:pPr>
              <a:spcAft>
                <a:spcPts val="200"/>
              </a:spcAft>
              <a:defRPr sz="1150" b="1">
                <a:solidFill>
                  <a:srgbClr val="00E5FF"/>
                </a:solidFill>
                <a:latin typeface="Segoe UI"/>
              </a:defRPr>
            </a:pPr>
            <a:r>
              <a:t>▶  Monitoring Intervals May Hide Short Bursts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 Traditional SNMP/sFlow telemetry (1–30s) averages out sub-second microbursts entirely.</a:t>
            </a:r>
          </a:p>
          <a:p>
            <a:pPr>
              <a:spcAft>
                <a:spcPts val="200"/>
              </a:spcAft>
              <a:defRPr sz="1150" b="1">
                <a:solidFill>
                  <a:srgbClr val="00E5FF"/>
                </a:solidFill>
                <a:latin typeface="Segoe UI"/>
              </a:defRPr>
            </a:pPr>
            <a:r>
              <a:t>▶  Need for Timely Detection &amp; Controlled Mitigation</a:t>
            </a:r>
          </a:p>
          <a:p>
            <a:pPr>
              <a:spcAft>
                <a:spcPts val="800"/>
              </a:spcAft>
              <a:defRPr sz="1050">
                <a:solidFill>
                  <a:srgbClr val="94A3B8"/>
                </a:solidFill>
                <a:latin typeface="Segoe UI"/>
              </a:defRPr>
            </a:pPr>
            <a:r>
              <a:t>     Requires real-time 10 ms resolution with automated, non-disruptive rate shaping.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508760"/>
            <a:ext cx="5303520" cy="21488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 b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PROJECT ABSTRACT</a:t>
            </a:r>
          </a:p>
          <a:p>
            <a:pPr>
              <a:defRPr sz="1100" i="1">
                <a:solidFill>
                  <a:srgbClr val="CBD5E1"/>
                </a:solidFill>
                <a:latin typeface="Segoe UI"/>
              </a:defRPr>
            </a:pPr>
            <a:r>
              <a:t>“MicroburstHunter is a real-time microburst detection and adaptive mitigation system for data-center networks. It evaluates traffic in short time windows, establishes a traffic baseline, detects sustained anomalies, ranks major contributing sources, and selects a mitigation policy. Linux traffic control supports rate shaping, while recovery logic and watchdog handling bound mitigation duration. SQLite records lifecycle events for auditing. The system supports a safe dry-run mode and isolated Linux kernel-shaping validation.”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794760"/>
            <a:ext cx="5303520" cy="26060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icroburst_traffic_diagram_17918094365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840480"/>
            <a:ext cx="521208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Existing Approaches vs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9050"/>
          </a:xfrm>
          <a:prstGeom prst="rect">
            <a:avLst/>
          </a:prstGeom>
          <a:solidFill>
            <a:srgbClr val="1C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2926080"/>
          </a:xfrm>
          <a:prstGeom prst="roundRect">
            <a:avLst/>
          </a:prstGeom>
          <a:solidFill>
            <a:srgbClr val="101A30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 b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EF4444"/>
                </a:solidFill>
                <a:latin typeface="Segoe UI"/>
              </a:defRPr>
            </a:pPr>
            <a:r>
              <a:t>TRADITIONAL APPROACHES &amp; LIMITATIONS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✖  Traditional monitoring relies on coarse, aggregated periodic averages.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✖  Coarse sampling intervals (1–30s) obscure short-lived sub-second bursts.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✖  Reactive congestion controls respond only after switch buffer overflows.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✖  Static rate limits fail to adapt dynamically to shifting baseline traffic.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✖  Detection, mitigation, recovery, and audit evidence remain fragmented.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29260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 b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PROPOSED SOLUTION — MICROBURSTHUNTER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10 ms high-resolution evaluation windows for fine-grained telemetry.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Dynamic EWMA baseline with 3× multiplier and 80 Mbps floor threshold.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Persistence filtering (2–3 windows) prevents false triggers on spikes.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Automated per-flow source ranking isolates top offending sender IPs.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Targeted, bounded Linux tc / HTB rate shaping (35 Mbps severe cap).</a:t>
            </a:r>
          </a:p>
          <a:p>
            <a:pPr>
              <a:spcAft>
                <a:spcPts val="5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✔  Deterministic recovery, watchdog timer ceiling, and SQLite audit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698480" cy="178308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4709160"/>
          <a:ext cx="10332718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77639"/>
                <a:gridCol w="3977639"/>
              </a:tblGrid>
              <a:tr h="4000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Capability Dimension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Traditional Approach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MicroburstHunter Prototype</a:t>
                      </a:r>
                    </a:p>
                  </a:txBody>
                  <a:tcPr>
                    <a:solidFill>
                      <a:srgbClr val="14234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Telemetry Resolution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 to 30 seconds (SNMP, NetFlow, sFlow polling)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 ms high-frequency software window aggregation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Reaction Speed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Coarse reactive pacing; detects only post-buffer loss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Real-time algorithmic persistence check (&lt;15 μs software latency)</a:t>
                      </a:r>
                    </a:p>
                  </a:txBody>
                  <a:tcPr>
                    <a:solidFill>
                      <a:srgbClr val="121E3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 &amp; Safety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Static port throttling; risk of persistent lockouts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Targeted per-source HTB cap, watchdog timer, dry-run by default</a:t>
                      </a:r>
                    </a:p>
                  </a:txBody>
                  <a:tcPr>
                    <a:solidFill>
                      <a:srgbClr val="101A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MicroburstHunter —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9050"/>
          </a:xfrm>
          <a:prstGeom prst="rect">
            <a:avLst/>
          </a:prstGeom>
          <a:solidFill>
            <a:srgbClr val="1C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3B82F6"/>
                </a:solidFill>
                <a:latin typeface="Segoe UI"/>
              </a:defRPr>
            </a:pPr>
            <a:r>
              <a:t>STAGE 1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Network Traffic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Incoming packets</a:t>
            </a:r>
            <a:br/>
            <a:r>
              <a:t>&amp; live captures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883664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084832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3B82F6"/>
                </a:solidFill>
                <a:latin typeface="Segoe UI"/>
              </a:defRPr>
            </a:pPr>
            <a:r>
              <a:t>STAGE 2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Packet Capture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Raw socket &amp;</a:t>
            </a:r>
            <a:br/>
            <a:r>
              <a:t>pcap observation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6976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38144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00E5FF"/>
                </a:solidFill>
                <a:latin typeface="Segoe UI"/>
              </a:defRPr>
            </a:pPr>
            <a:r>
              <a:t>STAGE 3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Window Processor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Aggregates into</a:t>
            </a:r>
            <a:br/>
            <a:r>
              <a:t>10 ms windows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590288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91456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STAGE 4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Burst Detector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EWMA baseline</a:t>
            </a:r>
            <a:br/>
            <a:r>
              <a:t>3x mult, 80M floor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F59E0B"/>
                </a:solidFill>
                <a:latin typeface="Segoe UI"/>
              </a:defRPr>
            </a:pPr>
            <a:r>
              <a:t>STAGE 5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Source Ranker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Identifies top</a:t>
            </a:r>
            <a:br/>
            <a:r>
              <a:t>offending flow 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296912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98080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EF4444"/>
                </a:solidFill>
                <a:latin typeface="Segoe UI"/>
              </a:defRPr>
            </a:pPr>
            <a:r>
              <a:t>STAGE 6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Mitigation Policy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Selects rate cap</a:t>
            </a:r>
            <a:br/>
            <a:r>
              <a:t>(35 Mbps severe)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650224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851392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EF4444"/>
                </a:solidFill>
                <a:latin typeface="Segoe UI"/>
              </a:defRPr>
            </a:pPr>
            <a:r>
              <a:t>STAGE 7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Traffic Control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Linux tc / HTB</a:t>
            </a:r>
            <a:br/>
            <a:r>
              <a:t>Dry-run default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003536" y="2468880"/>
            <a:ext cx="164592" cy="320040"/>
          </a:xfrm>
          <a:prstGeom prst="rightArrow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04704" y="1645920"/>
            <a:ext cx="1115568" cy="201168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137160"/>
          <a:lstStyle/>
          <a:p>
            <a:pPr algn="ctr">
              <a:spcAft>
                <a:spcPts val="600"/>
              </a:spcAft>
              <a:defRPr sz="850" b="1">
                <a:solidFill>
                  <a:srgbClr val="22C55E"/>
                </a:solidFill>
                <a:latin typeface="Segoe UI"/>
              </a:defRPr>
            </a:pPr>
            <a:r>
              <a:t>STAGE 8</a:t>
            </a:r>
          </a:p>
          <a:p>
            <a:pPr algn="ctr">
              <a:spcAft>
                <a:spcPts val="8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Event Store</a:t>
            </a:r>
          </a:p>
          <a:p>
            <a:pPr algn="ctr">
              <a:defRPr sz="950">
                <a:solidFill>
                  <a:srgbClr val="94A3B8"/>
                </a:solidFill>
                <a:latin typeface="Segoe UI"/>
              </a:defRPr>
            </a:pPr>
            <a:r>
              <a:t>SQLite persistence</a:t>
            </a:r>
            <a:br/>
            <a:r>
              <a:t>audit trail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0" y="4023360"/>
            <a:ext cx="5303520" cy="128016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spcAft>
                <a:spcPts val="4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RECOVERY MANAGER &amp; TIMEOUT WATCHDOG  (CONTROL / FEEDBACK PATH)</a:t>
            </a:r>
          </a:p>
          <a:p>
            <a:pPr>
              <a:defRPr sz="1000">
                <a:solidFill>
                  <a:srgbClr val="CBD5E1"/>
                </a:solidFill>
                <a:latin typeface="Segoe UI"/>
              </a:defRPr>
            </a:pPr>
            <a:r>
              <a:t>• Quiet-Window Recovery: Automatically clears mitigation after 3–10 quiet consecutive 10 ms windows.</a:t>
            </a:r>
            <a:br/>
            <a:r>
              <a:t>• Inactivity Watchdog: Monotonic wall-clock timer (250 ms demo / 8,000 ms prod) releases rules on idle traffic.</a:t>
            </a:r>
            <a:br/>
            <a:r>
              <a:t>• Generation Tracking: Protects against stale timer callbacks and asynchronous netlink race conditions.</a:t>
            </a:r>
          </a:p>
        </p:txBody>
      </p:sp>
      <p:sp>
        <p:nvSpPr>
          <p:cNvPr id="22" name="Up Arrow 21"/>
          <p:cNvSpPr/>
          <p:nvPr/>
        </p:nvSpPr>
        <p:spPr>
          <a:xfrm>
            <a:off x="7772400" y="3703320"/>
            <a:ext cx="274320" cy="292608"/>
          </a:xfrm>
          <a:prstGeom prst="up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200400" cy="1280160"/>
          </a:xfrm>
          <a:prstGeom prst="roundRect">
            <a:avLst/>
          </a:prstGeom>
          <a:solidFill>
            <a:srgbClr val="18121C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 rIns="228600"/>
          <a:lstStyle/>
          <a:p>
            <a:pPr algn="ctr">
              <a:spcAft>
                <a:spcPts val="4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FAIL-CLOSED SAFETY GUARDS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Dry-run enabled by default (0 netlink mutations).</a:t>
            </a:r>
            <a:br/>
            <a:r>
              <a:t>• Live shaping requires dual authorization gates.</a:t>
            </a:r>
            <a:br/>
            <a:r>
              <a:t>• eth0, lo, and host default route strictly forbidden.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023360"/>
            <a:ext cx="1828800" cy="1280160"/>
          </a:xfrm>
          <a:prstGeom prst="roundRect">
            <a:avLst/>
          </a:prstGeom>
          <a:solidFill>
            <a:srgbClr val="101A30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spcAft>
                <a:spcPts val="400"/>
              </a:spcAft>
              <a:defRPr sz="1050" b="1">
                <a:solidFill>
                  <a:srgbClr val="3B82F6"/>
                </a:solidFill>
                <a:latin typeface="Segoe UI"/>
              </a:defRPr>
            </a:pPr>
            <a:r>
              <a:t>PERFORMANCE</a:t>
            </a:r>
          </a:p>
          <a:p>
            <a:pPr>
              <a:defRPr sz="950">
                <a:solidFill>
                  <a:srgbClr val="CBD5E1"/>
                </a:solidFill>
                <a:latin typeface="Segoe UI"/>
              </a:defRPr>
            </a:pPr>
            <a:r>
              <a:t>• &lt;15 µs Software Latency</a:t>
            </a:r>
            <a:br/>
            <a:r>
              <a:t>• 0 False Positives / 1000w</a:t>
            </a:r>
            <a:br/>
            <a:r>
              <a:t>• 100% Burst Detection</a:t>
            </a:r>
            <a:br/>
            <a:r>
              <a:t>• 2.9% Live Shaping 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Segoe UI"/>
              </a:defRPr>
            </a:pPr>
            <a:r>
              <a:t>Data Flow: Ingress Traffic → High-Frequency Window Aggregation → Algorithmic Detection → Adaptive HTB Shaping → SQLite Audit.</a:t>
            </a:r>
            <a:br/>
            <a:r>
              <a:t>Control Flow: Recovery Manager continuously monitors traffic normalization and wall-clock inactivity to trigger automatic de-escalation.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How MicroburstHunter Works — Operational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9050"/>
          </a:xfrm>
          <a:prstGeom prst="rect">
            <a:avLst/>
          </a:prstGeom>
          <a:solidFill>
            <a:srgbClr val="1C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468880" cy="5029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t>1. BASELINE (15 Mbps)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EWMA establishes 80M threshold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468880" cy="5029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EF4444"/>
                </a:solidFill>
                <a:latin typeface="Segoe UI"/>
              </a:defRPr>
            </a:pPr>
            <a:r>
              <a:t>2. BURST (150 Mbps)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2-window persistence triggered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5029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3. MITIGATION (35 Mbps)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HTB class 1:10 cap applied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463040"/>
            <a:ext cx="2468880" cy="502920"/>
          </a:xfrm>
          <a:prstGeom prst="roundRect">
            <a:avLst/>
          </a:prstGeom>
          <a:solidFill>
            <a:srgbClr val="101A30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>
              <a:defRPr sz="1000" b="1">
                <a:solidFill>
                  <a:srgbClr val="22C55E"/>
                </a:solidFill>
                <a:latin typeface="Segoe UI"/>
              </a:defRPr>
            </a:pPr>
            <a:r>
              <a:t>4. RECOVERY (Normal)</a:t>
            </a:r>
          </a:p>
          <a:p>
            <a:pPr algn="ctr">
              <a:defRPr sz="850">
                <a:solidFill>
                  <a:srgbClr val="94A3B8"/>
                </a:solidFill>
                <a:latin typeface="Segoe UI"/>
              </a:defRPr>
            </a:pPr>
            <a:r>
              <a:t>3 quiet windows / watchdog expiry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94560"/>
            <a:ext cx="3291840" cy="41605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1000"/>
              </a:spcAft>
              <a:defRPr sz="1100" b="1">
                <a:solidFill>
                  <a:srgbClr val="00E5FF"/>
                </a:solidFill>
                <a:latin typeface="Segoe UI"/>
              </a:defRPr>
            </a:pPr>
            <a:r>
              <a:t>1. INGESTION &amp; THRESHOLDING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Start Passive Capture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Continuous socket observation on targeted network interface.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10 ms Window Aggregator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Aggregates byte &amp; packet counters into strict 10 ms slices.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EWMA Baseline Tracker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Calculates dynamic rolling baseline: B_t = α·R_t + (1-α)·B_{t-1}.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Adaptive Threshold Floor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Threshold T = max(80 Mbps, 3.0 × Baseline). Prevents noise triggers.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Persistence Check [Decision]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Does rate exceed T for 2–3 consecutive windows?</a:t>
            </a:r>
            <a:br/>
            <a:r>
              <a:t>• NO ➔ Continue monitoring</a:t>
            </a:r>
            <a:br/>
            <a:r>
              <a:t>• YES ➔ Declare Microburst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383280" cy="41605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1000"/>
              </a:spcAft>
              <a:defRPr sz="1100" b="1">
                <a:solidFill>
                  <a:srgbClr val="EF4444"/>
                </a:solidFill>
                <a:latin typeface="Segoe UI"/>
              </a:defRPr>
            </a:pPr>
            <a:r>
              <a:t>2. ATTRIBUTION &amp; MITIGATION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Source Contribution Ranking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Computes per-IP byte contributions. Isolates top offender flow.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Severity Ratio Evaluation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Evaluates peak/baseline ratio:</a:t>
            </a:r>
            <a:br/>
            <a:r>
              <a:t>• Moderate (ratio &lt; 5×) ➔ 60 Mbps Cap</a:t>
            </a:r>
            <a:br/>
            <a:r>
              <a:t>• Severe (ratio ≥ 5×) ➔ 35 Mbps Cap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HTB Rate Shaping Execution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Adds Linux HTB class 1:10 and Flower filter. (Dry-run by default; real kernel shaping requires explicit authorization).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Immutable Audit Recording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Logs event in SQLite EventStore (timestamp, flow, severity, action).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94560"/>
            <a:ext cx="3291840" cy="416052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/>
          <a:lstStyle/>
          <a:p>
            <a:pPr algn="ctr">
              <a:spcAft>
                <a:spcPts val="10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3. RECOVERY &amp; WATCHDOG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Recovery Condition Check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Monitors for 3 consecutive quiet windows (demo) or 10 quiet windows (prod).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Watchdog Duration Ceiling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Wall-clock timer expires if traffic abruptly stops idle (250 ms demo / 8,000 ms prod).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De-escalation &amp; Rule Removal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Tears down HTB filter &amp; class 1:10. Restores parent class 1:1.</a:t>
            </a:r>
          </a:p>
          <a:p>
            <a:pPr>
              <a:spcAft>
                <a:spcPts val="1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▶ Audit &amp; Re-arm Engine</a:t>
            </a:r>
          </a:p>
          <a:p>
            <a:pPr>
              <a:spcAft>
                <a:spcPts val="8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Records mitigation_removed or mitigation_expired. Re-arms detection with cooldown.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Technology Stack &amp; Technical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728655" cy="19050"/>
          </a:xfrm>
          <a:prstGeom prst="rect">
            <a:avLst/>
          </a:prstGeom>
          <a:solidFill>
            <a:srgbClr val="1C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8920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 b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00E5FF"/>
                </a:solidFill>
                <a:latin typeface="Segoe UI"/>
              </a:defRPr>
            </a:pPr>
            <a:r>
              <a:t>CORE TECHNOLOGY STACK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Python 3.12 (Core Engine)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Detection state machine, sliding EWMA window processing, attribution ranking, policy arbitration, and unit regression test suites.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Linux Traffic Control (tc) &amp; HTB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Hierarchical Token Bucket (sch_htb) rate shaping, flower source-IP classification, and token bucket token pacing.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Packet Capture Components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High-frequency packet observation, Scapy capture pipeline, and raw socket telemetry.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SQLite 3 (EventStore)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Persistent, thread-safe audit logging for lifecycle events (burst_detected, mitigation_applied, expired, removed).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React 18 + Vite + TypeScript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Real-time network simulation dashboard, interactive topology viewer, and telemetry graph rendering.</a:t>
            </a:r>
          </a:p>
          <a:p>
            <a:pPr>
              <a:spcAft>
                <a:spcPts val="1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■  Windows 11 + WSL 2 (Ubuntu 24.04)</a:t>
            </a:r>
          </a:p>
          <a:p>
            <a:pPr>
              <a:spcAft>
                <a:spcPts val="7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    Authoritative development clone (Windows) and isolated kernel namespace validation environment (Linux).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892040"/>
          </a:xfrm>
          <a:prstGeom prst="roundRect">
            <a:avLst/>
          </a:prstGeom>
          <a:solidFill>
            <a:srgbClr val="101A30"/>
          </a:solidFill>
          <a:ln w="12700">
            <a:solidFill>
              <a:srgbClr val="1C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320040" bIns="228600"/>
          <a:lstStyle/>
          <a:p>
            <a:pPr algn="ctr">
              <a:spcAft>
                <a:spcPts val="1200"/>
              </a:spcAft>
              <a:defRPr sz="1200" b="1">
                <a:solidFill>
                  <a:srgbClr val="3B82F6"/>
                </a:solidFill>
                <a:latin typeface="Segoe UI"/>
              </a:defRPr>
            </a:pPr>
            <a:r>
              <a:t>TECHNICAL DOCUMENTATION &amp; REFERENCES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[1]  Linux tc Manual (man 8 tc)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Traffic Control architecture, queuing disciplines, and packet scheduling.</a:t>
            </a:r>
            <a:br/>
            <a:r>
              <a:t>      URL: https://man7.org/linux/man-pages/man8/tc.8.html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[2]  Linux HTB Manual (man 8 tc-htb)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Hierarchical Token Bucket algorithm, rate and ceil token enforcement.</a:t>
            </a:r>
            <a:br/>
            <a:r>
              <a:t>      URL: https://man7.org/linux/man-pages/man8/tc-htb.8.html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[3]  Python Standard Library Documentation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Thread-safe primitives, time.monotonic(), and socket networking.</a:t>
            </a:r>
            <a:br/>
            <a:r>
              <a:t>      URL: https://docs.python.org/3/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[4]  SQLite Documentation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ACID persistence, write-ahead logging, and query audit architecture.</a:t>
            </a:r>
            <a:br/>
            <a:r>
              <a:t>      URL: https://www.sqlite.org/docs.html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[5]  Scapy Network Telemetry Documentation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Packet crafting, frame dissection, and pcap observation engine.</a:t>
            </a:r>
            <a:br/>
            <a:r>
              <a:t>      URL: https://scapy.net/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[6]  React Documentation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Declarative component lifecycle and real-time state visualization.</a:t>
            </a:r>
            <a:br/>
            <a:r>
              <a:t>      URL: https://react.dev/</a:t>
            </a:r>
          </a:p>
          <a:p>
            <a:pPr>
              <a:spcAft>
                <a:spcPts val="100"/>
              </a:spcAft>
              <a:defRPr sz="1050" b="1">
                <a:solidFill>
                  <a:srgbClr val="00E5FF"/>
                </a:solidFill>
                <a:latin typeface="Segoe UI"/>
              </a:defRPr>
            </a:pPr>
            <a:r>
              <a:t>[7]  Vite Build Tool Documentation</a:t>
            </a:r>
          </a:p>
          <a:p>
            <a:pPr>
              <a:spcAft>
                <a:spcPts val="600"/>
              </a:spcAft>
              <a:defRPr sz="900">
                <a:solidFill>
                  <a:srgbClr val="94A3B8"/>
                </a:solidFill>
                <a:latin typeface="Segoe UI"/>
              </a:defRPr>
            </a:pPr>
            <a:r>
              <a:t>      Modern frontend tooling and optimized production bundling.</a:t>
            </a:r>
            <a:br/>
            <a:r>
              <a:t>      URL: https://vite.dev/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atacenter_closing_visual_1791809456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0"/>
            <a:ext cx="80768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0" y="0"/>
            <a:ext cx="164592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45720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0E5FF"/>
                </a:solidFill>
                <a:latin typeface="Segoe UI"/>
              </a:defRPr>
            </a:pPr>
            <a:r>
              <a:t>COURSE BASED PROJECT  |  COMPUTER NETWORKS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  <a:latin typeface="Segoe UI"/>
              </a:defRPr>
            </a:pPr>
            <a:r>
              <a:t>THANK YOU</a:t>
            </a:r>
          </a:p>
          <a:p>
            <a:pPr>
              <a:spcAft>
                <a:spcPts val="1000"/>
              </a:spcAft>
              <a:defRPr sz="2000" b="1">
                <a:solidFill>
                  <a:srgbClr val="00E5FF"/>
                </a:solidFill>
                <a:latin typeface="Segoe UI"/>
              </a:defRPr>
            </a:pPr>
            <a:r>
              <a:t>MicroburstHunter</a:t>
            </a:r>
          </a:p>
          <a:p>
            <a:pPr>
              <a:spcAft>
                <a:spcPts val="28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t>Real-Time Detection and Adaptive Mitigation of Microbursts in Data Center Networks</a:t>
            </a:r>
          </a:p>
          <a:p>
            <a:pPr>
              <a:defRPr sz="1800" b="1">
                <a:solidFill>
                  <a:srgbClr val="3B82F6"/>
                </a:solidFill>
                <a:latin typeface="Segoe U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